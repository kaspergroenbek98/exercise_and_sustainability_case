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6" r:id="rId10"/>
    <p:sldId id="263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ln w="31750">
              <a:solidFill>
                <a:srgbClr val="3D4F73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1925.3</c:v>
                </c:pt>
                <c:pt idx="1">
                  <c:v>1940.4</c:v>
                </c:pt>
                <c:pt idx="2">
                  <c:v>1990.8</c:v>
                </c:pt>
                <c:pt idx="3">
                  <c:v>2026.2</c:v>
                </c:pt>
                <c:pt idx="4">
                  <c:v>2039.8</c:v>
                </c:pt>
                <c:pt idx="5">
                  <c:v>1922.7</c:v>
                </c:pt>
                <c:pt idx="6">
                  <c:v>1832.7</c:v>
                </c:pt>
                <c:pt idx="7">
                  <c:v>1871.2</c:v>
                </c:pt>
                <c:pt idx="8">
                  <c:v>1866.2</c:v>
                </c:pt>
                <c:pt idx="9">
                  <c:v>1896.7</c:v>
                </c:pt>
                <c:pt idx="10">
                  <c:v>1810.5</c:v>
                </c:pt>
                <c:pt idx="11">
                  <c:v>1812.4</c:v>
                </c:pt>
                <c:pt idx="12">
                  <c:v>1814.5</c:v>
                </c:pt>
                <c:pt idx="13">
                  <c:v>1810.5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F6-4959-951C-10B40B3327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31750">
              <a:solidFill>
                <a:srgbClr val="1E2A4A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2832.8</c:v>
                </c:pt>
                <c:pt idx="1">
                  <c:v>2843.9</c:v>
                </c:pt>
                <c:pt idx="2">
                  <c:v>2865.4</c:v>
                </c:pt>
                <c:pt idx="3">
                  <c:v>2868.3</c:v>
                </c:pt>
                <c:pt idx="4">
                  <c:v>2874.5</c:v>
                </c:pt>
                <c:pt idx="5">
                  <c:v>2877.3</c:v>
                </c:pt>
                <c:pt idx="6">
                  <c:v>2878.5</c:v>
                </c:pt>
                <c:pt idx="7">
                  <c:v>2895.4</c:v>
                </c:pt>
                <c:pt idx="8">
                  <c:v>2909.2</c:v>
                </c:pt>
                <c:pt idx="9">
                  <c:v>2963.1</c:v>
                </c:pt>
                <c:pt idx="10">
                  <c:v>2952.8</c:v>
                </c:pt>
                <c:pt idx="11">
                  <c:v>2990.5</c:v>
                </c:pt>
                <c:pt idx="12">
                  <c:v>2973.3</c:v>
                </c:pt>
                <c:pt idx="13">
                  <c:v>2980.6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F6-4959-951C-10B40B3327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</c:v>
                </c:pt>
              </c:strCache>
            </c:strRef>
          </c:tx>
          <c:spPr>
            <a:ln w="31750">
              <a:solidFill>
                <a:srgbClr val="DD624F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3784.9</c:v>
                </c:pt>
                <c:pt idx="1">
                  <c:v>3834.5</c:v>
                </c:pt>
                <c:pt idx="2">
                  <c:v>3822.9</c:v>
                </c:pt>
                <c:pt idx="3">
                  <c:v>3797</c:v>
                </c:pt>
                <c:pt idx="4">
                  <c:v>3795.3</c:v>
                </c:pt>
                <c:pt idx="5">
                  <c:v>3807.9</c:v>
                </c:pt>
                <c:pt idx="6">
                  <c:v>3814.6</c:v>
                </c:pt>
                <c:pt idx="7">
                  <c:v>3947.6</c:v>
                </c:pt>
                <c:pt idx="8">
                  <c:v>3931</c:v>
                </c:pt>
                <c:pt idx="9">
                  <c:v>3966.6</c:v>
                </c:pt>
                <c:pt idx="10">
                  <c:v>3918.4</c:v>
                </c:pt>
                <c:pt idx="11">
                  <c:v>3911.8</c:v>
                </c:pt>
                <c:pt idx="12">
                  <c:v>3947.2</c:v>
                </c:pt>
                <c:pt idx="13">
                  <c:v>3947.3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F6-4959-951C-10B40B332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 Light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 Light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100">
              <a:solidFill>
                <a:srgbClr val="1A1A2E"/>
              </a:solidFill>
              <a:latin typeface="Calibri Light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DD624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A1A2E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2000-2500</c:v>
                </c:pt>
                <c:pt idx="1">
                  <c:v>2500-3000</c:v>
                </c:pt>
                <c:pt idx="2">
                  <c:v>3000-3500</c:v>
                </c:pt>
                <c:pt idx="3">
                  <c:v>3500-4000</c:v>
                </c:pt>
                <c:pt idx="4">
                  <c:v>4000-4500</c:v>
                </c:pt>
                <c:pt idx="5">
                  <c:v>4500-5000</c:v>
                </c:pt>
                <c:pt idx="6">
                  <c:v>5000-5500</c:v>
                </c:pt>
                <c:pt idx="7">
                  <c:v>5500-6000</c:v>
                </c:pt>
                <c:pt idx="8">
                  <c:v>6000-6500</c:v>
                </c:pt>
                <c:pt idx="9">
                  <c:v>6500-7000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</c:v>
                </c:pt>
                <c:pt idx="1">
                  <c:v>151</c:v>
                </c:pt>
                <c:pt idx="2">
                  <c:v>219</c:v>
                </c:pt>
                <c:pt idx="3">
                  <c:v>126</c:v>
                </c:pt>
                <c:pt idx="4">
                  <c:v>68</c:v>
                </c:pt>
                <c:pt idx="5">
                  <c:v>26</c:v>
                </c:pt>
                <c:pt idx="6">
                  <c:v>8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C4F-4A98-BFA1-B24FE8694D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 Ligh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 Light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505EA-067F-4241-AEB1-AC06C4BE39B1}" type="datetimeFigureOut">
              <a:rPr lang="da-DK" smtClean="0"/>
              <a:t>21-05-2026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713BF-A784-485B-8492-21CF07D19E5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103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713BF-A784-485B-8492-21CF07D19E5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030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spergroenbek98/exercise_and_sustainability_cas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spergroenbek98/exercise_and_sustainability_cas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Is excessive exercise sustainable?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 dirty="0">
                <a:solidFill>
                  <a:srgbClr val="FFFFFF"/>
                </a:solidFill>
                <a:latin typeface="Cambria"/>
              </a:rPr>
              <a:t>On 23% of the days I wear my Fitbit, the answer is no.</a:t>
            </a:r>
            <a:r>
              <a:rPr lang="en-US" i="1" dirty="0">
                <a:solidFill>
                  <a:srgbClr val="FFFFFF"/>
                </a:solidFill>
                <a:latin typeface="Cambria"/>
              </a:rPr>
              <a:t> </a:t>
            </a:r>
            <a:r>
              <a:rPr lang="en-US" sz="1000" i="1" dirty="0">
                <a:solidFill>
                  <a:srgbClr val="FFFFFF"/>
                </a:solidFill>
                <a:latin typeface="Cambria"/>
              </a:rPr>
              <a:t>(at least with my way of calculating…)</a:t>
            </a:r>
            <a:endParaRPr sz="1800" b="0" i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091731"/>
            <a:ext cx="1109441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400" b="0" i="0" dirty="0">
                <a:solidFill>
                  <a:srgbClr val="FFFFFF"/>
                </a:solidFill>
                <a:latin typeface="Calibri Light"/>
              </a:rPr>
              <a:t>Snowflake | </a:t>
            </a:r>
            <a:r>
              <a:rPr lang="en-US" sz="1400" b="0" i="0" dirty="0" err="1">
                <a:solidFill>
                  <a:srgbClr val="FFFFFF"/>
                </a:solidFill>
                <a:latin typeface="Calibri Light"/>
              </a:rPr>
              <a:t>dbt</a:t>
            </a:r>
            <a:r>
              <a:rPr lang="en-US" sz="1400" b="0" i="0" dirty="0">
                <a:solidFill>
                  <a:srgbClr val="FFFFFF"/>
                </a:solidFill>
                <a:latin typeface="Calibri Light"/>
              </a:rPr>
              <a:t> Cloud | Google Health data | FAOSTAT food balance sheets</a:t>
            </a:r>
            <a:endParaRPr sz="1400" b="0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9441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Calibri Light"/>
              </a:rPr>
              <a:t>By: </a:t>
            </a:r>
            <a:r>
              <a:rPr sz="1400" b="0" i="0" dirty="0">
                <a:solidFill>
                  <a:srgbClr val="FFFFFF"/>
                </a:solidFill>
                <a:latin typeface="Calibri Light"/>
              </a:rPr>
              <a:t>Kasper Grønbek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248C7-15EE-CC5B-1D15-E39419875542}"/>
              </a:ext>
            </a:extLst>
          </p:cNvPr>
          <p:cNvSpPr txBox="1"/>
          <p:nvPr/>
        </p:nvSpPr>
        <p:spPr>
          <a:xfrm>
            <a:off x="-828805" y="6606552"/>
            <a:ext cx="6680407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200" b="0" i="0" dirty="0">
                <a:solidFill>
                  <a:srgbClr val="FFFFFF"/>
                </a:solidFill>
                <a:latin typeface="Calibri Light"/>
              </a:rPr>
              <a:t>Git reference: </a:t>
            </a:r>
            <a:r>
              <a:rPr sz="1200" b="0" i="0" dirty="0">
                <a:solidFill>
                  <a:srgbClr val="FFFFFF"/>
                </a:solidFill>
                <a:latin typeface="Calibri Light"/>
                <a:hlinkClick r:id="rId2"/>
              </a:rPr>
              <a:t>github.com/kaspergroenbek98/</a:t>
            </a:r>
            <a:r>
              <a:rPr sz="1200" b="0" i="0" dirty="0" err="1">
                <a:solidFill>
                  <a:srgbClr val="FFFFFF"/>
                </a:solidFill>
                <a:latin typeface="Calibri Light"/>
                <a:hlinkClick r:id="rId2"/>
              </a:rPr>
              <a:t>exercise_and_sustainability_</a:t>
            </a:r>
            <a:r>
              <a:rPr lang="en-US" sz="1200" b="0" i="0" dirty="0" err="1">
                <a:solidFill>
                  <a:srgbClr val="FFFFFF"/>
                </a:solidFill>
                <a:latin typeface="Calibri Light"/>
                <a:hlinkClick r:id="rId2"/>
              </a:rPr>
              <a:t>case</a:t>
            </a:r>
            <a:endParaRPr sz="1200" b="0" i="0" dirty="0">
              <a:solidFill>
                <a:srgbClr val="FFFFFF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 dirty="0">
                <a:solidFill>
                  <a:srgbClr val="1E2A4A"/>
                </a:solidFill>
                <a:latin typeface="Cambria"/>
              </a:rPr>
              <a:t>A cheeky question I could only answer because I wear my Fitbit </a:t>
            </a:r>
            <a:r>
              <a:rPr lang="en-US" sz="2200" b="1" i="0" dirty="0">
                <a:solidFill>
                  <a:srgbClr val="1E2A4A"/>
                </a:solidFill>
                <a:latin typeface="Cambria"/>
              </a:rPr>
              <a:t>almost </a:t>
            </a:r>
            <a:r>
              <a:rPr sz="2200" b="1" i="0" dirty="0">
                <a:solidFill>
                  <a:srgbClr val="1E2A4A"/>
                </a:solidFill>
                <a:latin typeface="Cambria"/>
              </a:rPr>
              <a:t>every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 Light"/>
              </a:rPr>
              <a:t>Why this case, what data I picked, and what I expected to find.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749039" cy="3200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749039" cy="54864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29183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1E2A4A"/>
                </a:solidFill>
                <a:latin typeface="Cambria"/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29183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mbria"/>
              </a:rPr>
              <a:t>Two years of Fitbit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291839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I have worn my Fitbit Charge 6 near-religiously since 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September 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2024. That gave me 6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00+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 days of total calories burned, steps, distance, and active zone minutes. </a:t>
            </a:r>
            <a:endParaRPr lang="en-US" sz="1200" b="0" i="0" dirty="0">
              <a:solidFill>
                <a:srgbClr val="1A1A2E"/>
              </a:solidFill>
              <a:latin typeface="Calibri Light"/>
            </a:endParaRPr>
          </a:p>
          <a:p>
            <a:pPr algn="l"/>
            <a:endParaRPr lang="en-US" sz="1200" dirty="0">
              <a:solidFill>
                <a:srgbClr val="1A1A2E"/>
              </a:solidFill>
              <a:latin typeface="Calibri Light"/>
            </a:endParaRPr>
          </a:p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Data I trust because I generated it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!</a:t>
            </a:r>
            <a:endParaRPr sz="12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749039" cy="3200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749039" cy="54864"/>
          </a:xfrm>
          <a:prstGeom prst="rect">
            <a:avLst/>
          </a:prstGeom>
          <a:solidFill>
            <a:srgbClr val="3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29183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3B6E8F"/>
                </a:solidFill>
                <a:latin typeface="Cambria"/>
              </a:rPr>
              <a:t>DATA I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29183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 i="0" dirty="0">
                <a:solidFill>
                  <a:srgbClr val="1A1A2E"/>
                </a:solidFill>
                <a:latin typeface="Cambria"/>
              </a:rPr>
              <a:t>FAOSTAT food balance 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3291839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I came across the UN FAO food balance sheets, a clean per-country annual table of food supply in kcal per capita per day.</a:t>
            </a:r>
            <a:br>
              <a:rPr lang="en-US" sz="1200" b="0" i="0" dirty="0">
                <a:solidFill>
                  <a:srgbClr val="1A1A2E"/>
                </a:solidFill>
                <a:latin typeface="Calibri Light"/>
              </a:rPr>
            </a:br>
            <a:br>
              <a:rPr lang="en-US" sz="1200" b="0" i="0" dirty="0">
                <a:solidFill>
                  <a:srgbClr val="1A1A2E"/>
                </a:solidFill>
                <a:latin typeface="Calibri Light"/>
              </a:rPr>
            </a:br>
            <a:r>
              <a:rPr sz="1200" b="0" i="0" dirty="0">
                <a:solidFill>
                  <a:srgbClr val="1A1A2E"/>
                </a:solidFill>
                <a:latin typeface="Calibri Light"/>
              </a:rPr>
              <a:t>I asked: could the world supply enough food to support me, at my rate?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920240"/>
            <a:ext cx="3749039" cy="3200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920240"/>
            <a:ext cx="3749039" cy="54864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2103120"/>
            <a:ext cx="329183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DD624F"/>
                </a:solidFill>
                <a:latin typeface="Cambria"/>
              </a:rPr>
              <a:t>CHEEKY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68880"/>
            <a:ext cx="3291839" cy="5601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700" b="1" i="0" dirty="0">
                <a:solidFill>
                  <a:srgbClr val="1A1A2E"/>
                </a:solidFill>
                <a:latin typeface="Cambria"/>
              </a:rPr>
              <a:t>Is my high-activity days sustainable</a:t>
            </a:r>
            <a:r>
              <a:rPr sz="1700" b="1" i="0" dirty="0">
                <a:solidFill>
                  <a:srgbClr val="1A1A2E"/>
                </a:solidFill>
                <a:latin typeface="Cambri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08960"/>
            <a:ext cx="3291839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If you scaled my burn to humanity, would the food supply hold? The fitness revolution feels healthy at the individual level. 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Everyone seems to run half-marathons, bike Denmark thin, and so forth.</a:t>
            </a:r>
            <a:br>
              <a:rPr lang="en-US" sz="1200" b="0" i="0" dirty="0">
                <a:solidFill>
                  <a:srgbClr val="1A1A2E"/>
                </a:solidFill>
                <a:latin typeface="Calibri Light"/>
              </a:rPr>
            </a:br>
            <a:endParaRPr lang="en-US" sz="1200" b="0" i="0" dirty="0">
              <a:solidFill>
                <a:srgbClr val="1A1A2E"/>
              </a:solidFill>
              <a:latin typeface="Calibri Light"/>
            </a:endParaRPr>
          </a:p>
          <a:p>
            <a:pPr algn="l"/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But, </a:t>
            </a:r>
            <a:r>
              <a:rPr lang="en-US" sz="1200" dirty="0">
                <a:solidFill>
                  <a:srgbClr val="1A1A2E"/>
                </a:solidFill>
                <a:latin typeface="Calibri Light"/>
              </a:rPr>
              <a:t>a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t the population level, </a:t>
            </a:r>
            <a:r>
              <a:rPr lang="en-US" sz="1200" dirty="0">
                <a:solidFill>
                  <a:srgbClr val="1A1A2E"/>
                </a:solidFill>
                <a:latin typeface="Calibri Light"/>
              </a:rPr>
              <a:t>how does that scale?</a:t>
            </a:r>
            <a:endParaRPr sz="12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 dirty="0">
                <a:solidFill>
                  <a:srgbClr val="3D4F73"/>
                </a:solidFill>
                <a:latin typeface="Calibri Light"/>
              </a:rPr>
              <a:t>The rest of the deck is how I built it, what the data said, and what I would do next.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 dirty="0">
                <a:solidFill>
                  <a:srgbClr val="1E2A4A"/>
                </a:solidFill>
                <a:latin typeface="Cambria"/>
              </a:rPr>
              <a:t>My daily burn range is wider than the world's national supply range, and 2,500 kcal higher at the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1E2A4A"/>
                </a:solidFill>
                <a:latin typeface="Cambria"/>
              </a:rPr>
              <a:t>World national supply range, FAOSTAT 2010 to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4937760" cy="457200"/>
          </a:xfrm>
          <a:prstGeom prst="rect">
            <a:avLst/>
          </a:prstGeom>
          <a:solidFill>
            <a:srgbClr val="3D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4027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1,810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24027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 Light"/>
              </a:rPr>
              <a:t>3,967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6868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libri Light"/>
              </a:rPr>
              <a:t>kcal per capita per day, across ~2,800 country</a:t>
            </a:r>
            <a:r>
              <a:rPr lang="en-US" sz="1100" b="0" i="1" dirty="0">
                <a:solidFill>
                  <a:srgbClr val="6B7280"/>
                </a:solidFill>
                <a:latin typeface="Calibri Light"/>
              </a:rPr>
              <a:t>/</a:t>
            </a:r>
            <a:r>
              <a:rPr sz="1100" b="0" i="1" dirty="0">
                <a:solidFill>
                  <a:srgbClr val="6B7280"/>
                </a:solidFill>
                <a:latin typeface="Calibri Light"/>
              </a:rPr>
              <a:t>year</a:t>
            </a:r>
            <a:r>
              <a:rPr lang="en-US" sz="1100" b="0" i="1" dirty="0">
                <a:solidFill>
                  <a:srgbClr val="6B7280"/>
                </a:solidFill>
                <a:latin typeface="Calibri Light"/>
              </a:rPr>
              <a:t> combinations</a:t>
            </a:r>
            <a:endParaRPr sz="1100" b="0" i="1" dirty="0">
              <a:solidFill>
                <a:srgbClr val="6B7280"/>
              </a:solidFill>
              <a:latin typeface="Calibri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64008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DD624F"/>
                </a:solidFill>
                <a:latin typeface="Cambria"/>
              </a:rPr>
              <a:t>My daily burn range, </a:t>
            </a:r>
            <a:r>
              <a:rPr lang="en-US" sz="1400" b="1" dirty="0">
                <a:solidFill>
                  <a:srgbClr val="DD624F"/>
                </a:solidFill>
                <a:latin typeface="Cambria"/>
              </a:rPr>
              <a:t>619</a:t>
            </a:r>
            <a:r>
              <a:rPr sz="1400" b="1" i="0" dirty="0">
                <a:solidFill>
                  <a:srgbClr val="DD624F"/>
                </a:solidFill>
                <a:latin typeface="Cambria"/>
              </a:rPr>
              <a:t> worn days since </a:t>
            </a:r>
            <a:r>
              <a:rPr lang="en-US" sz="1400" b="1" dirty="0">
                <a:solidFill>
                  <a:srgbClr val="DD624F"/>
                </a:solidFill>
                <a:latin typeface="Cambria"/>
              </a:rPr>
              <a:t>I bought my watch in Sep 2024</a:t>
            </a:r>
            <a:endParaRPr sz="1400" b="1" i="0" dirty="0">
              <a:solidFill>
                <a:srgbClr val="DD624F"/>
              </a:solidFill>
              <a:latin typeface="Cambri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10058400" cy="45720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7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 Light"/>
              </a:rPr>
              <a:t>~2,000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611879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 Light"/>
              </a:rPr>
              <a:t>6,539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5156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6B7280"/>
                </a:solidFill>
                <a:latin typeface="Calibri Light"/>
              </a:rPr>
              <a:t>kcal per day, days I wore the watch and burned at least 1,000 kcal</a:t>
            </a:r>
            <a:r>
              <a:rPr lang="en-US" sz="1100" b="0" i="1" dirty="0">
                <a:solidFill>
                  <a:srgbClr val="6B7280"/>
                </a:solidFill>
                <a:latin typeface="Calibri Light"/>
              </a:rPr>
              <a:t> (to filter clear outliers)</a:t>
            </a:r>
            <a:endParaRPr sz="1100" b="0" i="1" dirty="0">
              <a:solidFill>
                <a:srgbClr val="6B7280"/>
              </a:solidFill>
              <a:latin typeface="Calibri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Cambria"/>
              </a:rPr>
              <a:t>The world's range is ~2,150 kcal wide. Mine is more than twice that.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1277295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>
                <a:solidFill>
                  <a:srgbClr val="3D4F73"/>
                </a:solidFill>
                <a:latin typeface="Calibri Light"/>
              </a:rPr>
              <a:t>And my peak day sits well above any country's national supply for any year on record</a:t>
            </a:r>
            <a:r>
              <a:rPr lang="en-US" sz="1400" i="1" dirty="0">
                <a:solidFill>
                  <a:srgbClr val="3D4F73"/>
                </a:solidFill>
                <a:latin typeface="Calibri Light"/>
              </a:rPr>
              <a:t>,</a:t>
            </a:r>
          </a:p>
          <a:p>
            <a:pPr algn="l"/>
            <a:r>
              <a:rPr lang="en-US" sz="1400" i="1" dirty="0">
                <a:solidFill>
                  <a:srgbClr val="3D4F73"/>
                </a:solidFill>
                <a:latin typeface="Calibri Light"/>
              </a:rPr>
              <a:t>while my minimum is still higher than the average supply of bottom countries</a:t>
            </a:r>
            <a:r>
              <a:rPr sz="1400" b="0" i="1" dirty="0">
                <a:solidFill>
                  <a:srgbClr val="3D4F73"/>
                </a:solidFill>
                <a:latin typeface="Calibri Ligh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mbria"/>
              </a:rPr>
              <a:t>Two sources do all the work. I considered three others and rejected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00" cy="32918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3291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E2A4A"/>
                </a:solidFill>
                <a:latin typeface="Cambria"/>
              </a:rPr>
              <a:t>FAOSTAT Food Balance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 Light"/>
              </a:rPr>
              <a:t>Canonical global food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937760" cy="11449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The UN FAO publishes annual food balance sheets per country. I use element 664 for kcal per capita per day, and element 511 for population (to weight the world average). I filter to item </a:t>
            </a:r>
            <a:r>
              <a:rPr lang="en-US" sz="1200" dirty="0">
                <a:solidFill>
                  <a:srgbClr val="1A1A2E"/>
                </a:solidFill>
                <a:latin typeface="Calibri Light"/>
              </a:rPr>
              <a:t>for grand total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 and </a:t>
            </a:r>
            <a:r>
              <a:rPr lang="en-US" sz="1200" dirty="0">
                <a:solidFill>
                  <a:srgbClr val="1A1A2E"/>
                </a:solidFill>
                <a:latin typeface="Calibri Light"/>
              </a:rPr>
              <a:t>population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 in staging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, respectively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.</a:t>
            </a:r>
            <a:br>
              <a:rPr lang="en-US" sz="1200" b="0" i="0" dirty="0">
                <a:solidFill>
                  <a:srgbClr val="1A1A2E"/>
                </a:solidFill>
                <a:latin typeface="Calibri Light"/>
              </a:rPr>
            </a:br>
            <a:br>
              <a:rPr lang="en-US" sz="1200" b="0" i="0" dirty="0">
                <a:solidFill>
                  <a:srgbClr val="1A1A2E"/>
                </a:solidFill>
                <a:latin typeface="Calibri Light"/>
              </a:rPr>
            </a:br>
            <a:r>
              <a:rPr sz="1200" b="0" i="0" dirty="0">
                <a:solidFill>
                  <a:srgbClr val="1A1A2E"/>
                </a:solidFill>
                <a:latin typeface="Calibri Light"/>
              </a:rPr>
              <a:t>That gives me about 5,600 usable rows across 200 countries and 14 years.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486400" cy="32918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329184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DD624F"/>
                </a:solidFill>
                <a:latin typeface="Cambria"/>
              </a:rPr>
              <a:t>Google Health API (my Fitbit)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 Light"/>
              </a:rPr>
              <a:t>My own daily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4937760" cy="13295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Total daily calories burned, steps, distance, and active zone minutes from my Fitbit Charge 6. A small Python loader pulls from Google Health using an OAuth refresh token</a:t>
            </a:r>
            <a:r>
              <a:rPr lang="en-US" sz="1200" dirty="0">
                <a:solidFill>
                  <a:srgbClr val="1A1A2E"/>
                </a:solidFill>
                <a:latin typeface="Calibri Light"/>
              </a:rPr>
              <a:t> a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nd writes into Snowflake with an idempotent MERGE on (</a:t>
            </a:r>
            <a:r>
              <a:rPr sz="1200" b="0" i="0" dirty="0" err="1">
                <a:solidFill>
                  <a:srgbClr val="1A1A2E"/>
                </a:solidFill>
                <a:latin typeface="Calibri Light"/>
              </a:rPr>
              <a:t>activity_date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, </a:t>
            </a:r>
            <a:r>
              <a:rPr sz="1200" b="0" i="0" dirty="0" err="1">
                <a:solidFill>
                  <a:srgbClr val="1A1A2E"/>
                </a:solidFill>
                <a:latin typeface="Calibri Light"/>
              </a:rPr>
              <a:t>source_family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).</a:t>
            </a:r>
            <a:endParaRPr lang="en-US" sz="1200" b="0" i="0" dirty="0">
              <a:solidFill>
                <a:srgbClr val="1A1A2E"/>
              </a:solidFill>
              <a:latin typeface="Calibri Light"/>
            </a:endParaRPr>
          </a:p>
          <a:p>
            <a:pPr algn="l"/>
            <a:endParaRPr lang="en-US" sz="1200" dirty="0">
              <a:solidFill>
                <a:srgbClr val="1A1A2E"/>
              </a:solidFill>
              <a:latin typeface="Calibri Light"/>
            </a:endParaRPr>
          </a:p>
          <a:p>
            <a:pPr algn="l"/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Ideally it would be a scheduled task or set up with something like </a:t>
            </a:r>
            <a:r>
              <a:rPr lang="en-US" sz="1200" b="0" i="0" dirty="0" err="1">
                <a:solidFill>
                  <a:srgbClr val="1A1A2E"/>
                </a:solidFill>
                <a:latin typeface="Calibri Light"/>
              </a:rPr>
              <a:t>dlt</a:t>
            </a:r>
            <a:r>
              <a:rPr lang="en-US" sz="1200" dirty="0" err="1">
                <a:solidFill>
                  <a:srgbClr val="1A1A2E"/>
                </a:solidFill>
                <a:latin typeface="Calibri Light"/>
              </a:rPr>
              <a:t>hub</a:t>
            </a:r>
            <a:r>
              <a:rPr lang="en-US" sz="1200" dirty="0">
                <a:solidFill>
                  <a:srgbClr val="1A1A2E"/>
                </a:solidFill>
                <a:latin typeface="Calibri Light"/>
              </a:rPr>
              <a:t>, but I considered it out of scope for this case.</a:t>
            </a:r>
            <a:endParaRPr sz="12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C49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C4933D"/>
                </a:solidFill>
                <a:latin typeface="Cambria"/>
              </a:rPr>
              <a:t>CONSIDERED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822207"/>
            <a:ext cx="976853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 Light"/>
              </a:rPr>
              <a:t>World Bank for income context (changes story, not answer). OWID for cross-validation (</a:t>
            </a:r>
            <a:r>
              <a:rPr lang="en-US" sz="1100" b="0" i="0" dirty="0">
                <a:solidFill>
                  <a:srgbClr val="1A1A2E"/>
                </a:solidFill>
                <a:latin typeface="Calibri Light"/>
              </a:rPr>
              <a:t>t</a:t>
            </a:r>
            <a:r>
              <a:rPr lang="en-US" sz="1100" dirty="0">
                <a:solidFill>
                  <a:srgbClr val="1A1A2E"/>
                </a:solidFill>
                <a:latin typeface="Calibri Light"/>
              </a:rPr>
              <a:t>o validate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 FAOSTAT). WTO bilateral trade (interesting, but a half-day rabbit hole).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mbria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6279407"/>
            <a:ext cx="976853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 Light"/>
              </a:rPr>
              <a:t>Add World Bank back to layer in income brackets</a:t>
            </a:r>
            <a:r>
              <a:rPr lang="en-US" sz="1100" b="0" i="0" dirty="0">
                <a:solidFill>
                  <a:srgbClr val="1A1A2E"/>
                </a:solidFill>
                <a:latin typeface="Calibri Light"/>
              </a:rPr>
              <a:t> or development indicators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, so the slides can compare my burn to country averages by GDP per cap</a:t>
            </a:r>
            <a:r>
              <a:rPr lang="en-US" sz="1100" dirty="0">
                <a:solidFill>
                  <a:srgbClr val="1A1A2E"/>
                </a:solidFill>
                <a:latin typeface="Calibri Light"/>
              </a:rPr>
              <a:t> (or obesity? :D )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mbria"/>
              </a:rPr>
              <a:t>Three warehouses for workload isolation, three databases for environment isolation, one role for case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011680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09344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mbria"/>
              </a:rPr>
              <a:t>Workload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 Light"/>
              </a:rPr>
              <a:t>Three warehouses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0020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1E2A4A"/>
                </a:solidFill>
                <a:latin typeface="Consolas"/>
              </a:rPr>
              <a:t>LOADING_WH  ·  TRANSFORM_WH  ·  ANALYTICS_WH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05740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 Light"/>
              </a:rPr>
              <a:t>Each warehouse scales for the work it does. Loading is bursty, transforms are heavy, analytics is interactive.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2011680" cy="1005840"/>
          </a:xfrm>
          <a:prstGeom prst="rect">
            <a:avLst/>
          </a:prstGeom>
          <a:solidFill>
            <a:srgbClr val="3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201168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mbria"/>
              </a:rPr>
              <a:t>Environment</a:t>
            </a:r>
            <a:r>
              <a:rPr lang="en-US" sz="1500" b="1" i="0" dirty="0">
                <a:solidFill>
                  <a:srgbClr val="FFFFFF"/>
                </a:solidFill>
                <a:latin typeface="Cambria"/>
              </a:rPr>
              <a:t>s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 Light"/>
              </a:rPr>
              <a:t>Three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74320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3B6E8F"/>
                </a:solidFill>
                <a:latin typeface="Consolas"/>
              </a:rPr>
              <a:t>RAW  ·  ANALYTICS_DEV  ·  ANALYTICS_PROD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00400"/>
            <a:ext cx="91440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Raw data sits separately from transformed data. Dev experiments cannot touch prod by accident.</a:t>
            </a:r>
            <a:br>
              <a:rPr lang="en-US" sz="1200" b="0" i="0" dirty="0">
                <a:solidFill>
                  <a:srgbClr val="1A1A2E"/>
                </a:solidFill>
                <a:latin typeface="Calibri Light"/>
              </a:rPr>
            </a:b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ANALYTICS_DEV/PROD has separate environments in </a:t>
            </a:r>
            <a:r>
              <a:rPr lang="en-US" sz="1200" b="0" i="0" dirty="0" err="1">
                <a:solidFill>
                  <a:srgbClr val="1A1A2E"/>
                </a:solidFill>
                <a:latin typeface="Calibri Light"/>
              </a:rPr>
              <a:t>dbt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 Cloud.</a:t>
            </a:r>
            <a:endParaRPr sz="12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2011680" cy="100584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895344"/>
            <a:ext cx="2011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mbria"/>
              </a:rPr>
              <a:t>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17378"/>
            <a:ext cx="201168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Calibri Light"/>
              </a:rPr>
              <a:t>Per-developer schemas in dev</a:t>
            </a:r>
            <a:endParaRPr lang="en-US" sz="1100" dirty="0">
              <a:solidFill>
                <a:srgbClr val="FFFFFF"/>
              </a:solidFill>
              <a:latin typeface="Calibri Light"/>
            </a:endParaRPr>
          </a:p>
          <a:p>
            <a:pPr algn="ctr"/>
            <a:r>
              <a:rPr lang="en-US" sz="1100" b="0" i="0" dirty="0">
                <a:solidFill>
                  <a:srgbClr val="FFFFFF"/>
                </a:solidFill>
                <a:latin typeface="Calibri Light"/>
              </a:rPr>
              <a:t>Git version control and branching</a:t>
            </a:r>
            <a:endParaRPr sz="1100" b="0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51760" y="3881337"/>
            <a:ext cx="3941064" cy="37548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 err="1">
                <a:solidFill>
                  <a:srgbClr val="DD624F"/>
                </a:solidFill>
                <a:latin typeface="Consolas"/>
              </a:rPr>
              <a:t>generate_schema_name</a:t>
            </a:r>
            <a:r>
              <a:rPr sz="1100" b="1" i="0" dirty="0">
                <a:solidFill>
                  <a:srgbClr val="DD624F"/>
                </a:solidFill>
                <a:latin typeface="Consolas"/>
              </a:rPr>
              <a:t>() routes </a:t>
            </a:r>
            <a:r>
              <a:rPr sz="1100" b="1" i="0" dirty="0" err="1">
                <a:solidFill>
                  <a:srgbClr val="DD624F"/>
                </a:solidFill>
                <a:latin typeface="Consolas"/>
              </a:rPr>
              <a:t>dbt</a:t>
            </a:r>
            <a:r>
              <a:rPr sz="1100" b="1" i="0" dirty="0">
                <a:solidFill>
                  <a:srgbClr val="DD624F"/>
                </a:solidFill>
                <a:latin typeface="Consolas"/>
              </a:rPr>
              <a:t>_&lt;user&gt;_* in dev clean schemas in prod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34340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 Light"/>
              </a:rPr>
              <a:t>Multiple developers can work in parallel without colliding. A macro decides the schema at compile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276088"/>
            <a:ext cx="41148" cy="310896"/>
          </a:xfrm>
          <a:prstGeom prst="rect">
            <a:avLst/>
          </a:prstGeom>
          <a:solidFill>
            <a:srgbClr val="C49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2578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C4933D"/>
                </a:solidFill>
                <a:latin typeface="Cambria"/>
              </a:rPr>
              <a:t>CONSIDERED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578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 Light"/>
              </a:rPr>
              <a:t>Three functional roles, one per warehouse (LOADER, TRANSFORMER, ANALYST), so grants reflect actual work. Skipped for case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mbria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7150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Split PC_DBT_ROLE into the three functional roles. Add a CI database with temporary schemas for PR-triggered builds, sitting between dev and prod.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DD624F"/>
                </a:solidFill>
                <a:latin typeface="Cambria"/>
              </a:rPr>
              <a:t>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279407"/>
            <a:ext cx="976853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en-US" sz="1100" dirty="0">
                <a:solidFill>
                  <a:srgbClr val="1A1A2E"/>
                </a:solidFill>
                <a:latin typeface="Calibri Light"/>
              </a:rPr>
              <a:t>Getting a grip of the UI way of navigating profiles, environments and credentials to enforce my vision. Took a few for sure!</a:t>
            </a:r>
            <a:endParaRPr sz="11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12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mbria"/>
              </a:rPr>
              <a:t>One-off COPY for FAOSTAT, daily MERGE for my Fitbit. Both land in RAW.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E2A4A"/>
                </a:solidFill>
                <a:latin typeface="Cambria"/>
              </a:rPr>
              <a:t>FAOSTAT, loaded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Calibri Light"/>
              </a:rPr>
              <a:t>Bulk CSV from FAO </a:t>
            </a: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chunked up into the mb file limit and put 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into a Snowflake internal stage, then COPY INTO RAW.FAOSTAT.FOOD_BALANCE_SHEETS.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1E2A4A"/>
                </a:solidFill>
                <a:latin typeface="Cambria"/>
              </a:rPr>
              <a:t>CSV download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976" y="265176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36976" y="265176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1E2A4A"/>
                </a:solidFill>
                <a:latin typeface="Cambria"/>
              </a:rPr>
              <a:t>Internal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65176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265176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1E2A4A"/>
                </a:solidFill>
                <a:latin typeface="Cambria"/>
              </a:rPr>
              <a:t>COPY INTO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59952" y="265176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9952" y="265176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1E2A4A"/>
                </a:solidFill>
                <a:latin typeface="Cambria"/>
              </a:rPr>
              <a:t>RAW.FAOSTAT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834639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 i="0" dirty="0">
                <a:solidFill>
                  <a:srgbClr val="1E2A4A"/>
                </a:solidFill>
                <a:latin typeface="Calibri Ligh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2834639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 i="0" dirty="0">
                <a:solidFill>
                  <a:srgbClr val="1E2A4A"/>
                </a:solidFill>
                <a:latin typeface="Calibri Light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34639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 i="0">
                <a:solidFill>
                  <a:srgbClr val="1E2A4A"/>
                </a:solidFill>
                <a:latin typeface="Calibri Light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45720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DD624F"/>
                </a:solidFill>
                <a:latin typeface="Cambria"/>
              </a:rPr>
              <a:t>Fitbit, idempotent MERGE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i="1" dirty="0">
                <a:solidFill>
                  <a:srgbClr val="6B7280"/>
                </a:solidFill>
                <a:latin typeface="Calibri Light"/>
              </a:rPr>
              <a:t>The Python loader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 pulls a 3-day window </a:t>
            </a:r>
            <a:r>
              <a:rPr lang="en-US" sz="1200" i="1" dirty="0">
                <a:solidFill>
                  <a:srgbClr val="6B7280"/>
                </a:solidFill>
                <a:latin typeface="Calibri Light"/>
              </a:rPr>
              <a:t>by default (can be backfilled) 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from Google Health, MERGE</a:t>
            </a:r>
            <a:r>
              <a:rPr lang="en-US" sz="1200" i="1" dirty="0">
                <a:solidFill>
                  <a:srgbClr val="6B7280"/>
                </a:solidFill>
                <a:latin typeface="Calibri Light"/>
              </a:rPr>
              <a:t> 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on (</a:t>
            </a:r>
            <a:r>
              <a:rPr sz="1200" b="0" i="1" dirty="0" err="1">
                <a:solidFill>
                  <a:srgbClr val="6B7280"/>
                </a:solidFill>
                <a:latin typeface="Calibri Light"/>
              </a:rPr>
              <a:t>activity_date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, </a:t>
            </a:r>
            <a:r>
              <a:rPr sz="1200" b="0" i="1" dirty="0" err="1">
                <a:solidFill>
                  <a:srgbClr val="6B7280"/>
                </a:solidFill>
                <a:latin typeface="Calibri Light"/>
              </a:rPr>
              <a:t>source_family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DD624F"/>
                </a:solidFill>
                <a:latin typeface="Cambria"/>
              </a:rPr>
              <a:t>OAuth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6976" y="489204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36976" y="489204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DD624F"/>
                </a:solidFill>
                <a:latin typeface="Cambria"/>
              </a:rPr>
              <a:t>Python loader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89204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489204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DD624F"/>
                </a:solidFill>
                <a:latin typeface="Cambria"/>
              </a:rPr>
              <a:t>MERGE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9952" y="4892040"/>
            <a:ext cx="24688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9952" y="489204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DD624F"/>
                </a:solidFill>
                <a:latin typeface="Cambria"/>
              </a:rPr>
              <a:t>RAW.GOOGLE_HEALTH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074920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 i="0">
                <a:solidFill>
                  <a:srgbClr val="DD624F"/>
                </a:solidFill>
                <a:latin typeface="Calibri Light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1576" y="5074920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 i="0">
                <a:solidFill>
                  <a:srgbClr val="DD624F"/>
                </a:solidFill>
                <a:latin typeface="Calibri Light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074920"/>
            <a:ext cx="182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 i="0">
                <a:solidFill>
                  <a:srgbClr val="DD624F"/>
                </a:solidFill>
                <a:latin typeface="Calibri Light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200" b="1" dirty="0">
                <a:solidFill>
                  <a:srgbClr val="1E2A4A"/>
                </a:solidFill>
                <a:latin typeface="Cambria"/>
              </a:rPr>
              <a:t>Three layer split where w</a:t>
            </a:r>
            <a:r>
              <a:rPr sz="2200" b="1" i="0" dirty="0">
                <a:solidFill>
                  <a:srgbClr val="1E2A4A"/>
                </a:solidFill>
                <a:latin typeface="Cambria"/>
              </a:rPr>
              <a:t>orld and personal stories share the upstream layers.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554480"/>
            <a:ext cx="2286000" cy="3200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6040" y="1554480"/>
            <a:ext cx="2286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STAGING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554480"/>
            <a:ext cx="2468880" cy="3200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55448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INTERMEDIATE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554480"/>
            <a:ext cx="2194560" cy="32004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554480"/>
            <a:ext cx="21945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MARTS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9202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457200" y="2236309"/>
            <a:ext cx="192024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 dirty="0" err="1">
                <a:solidFill>
                  <a:srgbClr val="1A1A2E"/>
                </a:solidFill>
                <a:latin typeface="Calibri Light"/>
              </a:rPr>
              <a:t>faostat.food_balance_sheets</a:t>
            </a:r>
            <a:endParaRPr sz="10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457200" y="2804922"/>
            <a:ext cx="192024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457200" y="3029551"/>
            <a:ext cx="192024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 dirty="0" err="1">
                <a:solidFill>
                  <a:srgbClr val="1A1A2E"/>
                </a:solidFill>
                <a:latin typeface="Calibri Light"/>
              </a:rPr>
              <a:t>google_health.daily_activity</a:t>
            </a:r>
            <a:endParaRPr sz="10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06040" y="3571315"/>
            <a:ext cx="2286000" cy="411480"/>
          </a:xfrm>
          <a:prstGeom prst="rect">
            <a:avLst/>
          </a:prstGeom>
          <a:solidFill>
            <a:srgbClr val="C49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40" y="3681644"/>
            <a:ext cx="228600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mbria"/>
              </a:rPr>
              <a:t>SEED  </a:t>
            </a:r>
            <a:r>
              <a:rPr sz="1000" b="1" i="0" dirty="0" err="1">
                <a:solidFill>
                  <a:srgbClr val="FFFFFF"/>
                </a:solidFill>
                <a:latin typeface="Cambria"/>
              </a:rPr>
              <a:t>faostat_area_exclusions</a:t>
            </a:r>
            <a:endParaRPr sz="10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2606040" y="2011680"/>
            <a:ext cx="2286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606040" y="2236309"/>
            <a:ext cx="228600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 dirty="0">
                <a:solidFill>
                  <a:srgbClr val="1A1A2E"/>
                </a:solidFill>
                <a:latin typeface="Calibri Light"/>
              </a:rPr>
              <a:t>stg_</a:t>
            </a:r>
            <a:r>
              <a:rPr sz="1000" b="0" i="0" dirty="0" err="1">
                <a:solidFill>
                  <a:srgbClr val="1A1A2E"/>
                </a:solidFill>
                <a:latin typeface="Calibri Light"/>
              </a:rPr>
              <a:t>faostat</a:t>
            </a:r>
            <a:r>
              <a:rPr sz="1000" b="0" i="0" dirty="0">
                <a:solidFill>
                  <a:srgbClr val="1A1A2E"/>
                </a:solidFill>
                <a:latin typeface="Calibri Light"/>
              </a:rPr>
              <a:t>__</a:t>
            </a:r>
            <a:r>
              <a:rPr sz="1000" b="0" i="0" dirty="0" err="1">
                <a:solidFill>
                  <a:srgbClr val="1A1A2E"/>
                </a:solidFill>
                <a:latin typeface="Calibri Light"/>
              </a:rPr>
              <a:t>food_balance_sheets</a:t>
            </a:r>
            <a:endParaRPr sz="10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06040" y="2804922"/>
            <a:ext cx="2286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606040" y="3029551"/>
            <a:ext cx="228600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 dirty="0">
                <a:solidFill>
                  <a:srgbClr val="1A1A2E"/>
                </a:solidFill>
                <a:latin typeface="Calibri Light"/>
              </a:rPr>
              <a:t>stg_google_health__</a:t>
            </a:r>
            <a:r>
              <a:rPr sz="1000" b="0" i="0" dirty="0" err="1">
                <a:solidFill>
                  <a:srgbClr val="1A1A2E"/>
                </a:solidFill>
                <a:latin typeface="Calibri Light"/>
              </a:rPr>
              <a:t>daily_activity</a:t>
            </a:r>
            <a:endParaRPr sz="10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12080" y="1952244"/>
            <a:ext cx="246888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1952244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 Light"/>
              </a:rPr>
              <a:t>int_country_year_kcal_supply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775204"/>
            <a:ext cx="246888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2775204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 Light"/>
              </a:rPr>
              <a:t>int_world_kcal_baseline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598164"/>
            <a:ext cx="246888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3598164"/>
            <a:ext cx="24688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 Light"/>
              </a:rPr>
              <a:t>int_personal_day_matched_country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965668"/>
            <a:ext cx="219456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40" y="1965668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 Light"/>
              </a:rPr>
              <a:t>fct_world_kcal_supply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758910"/>
            <a:ext cx="219456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2758910"/>
            <a:ext cx="21945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 Light"/>
              </a:rPr>
              <a:t>fct_personal_vs_world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  <a:latin typeface="Calibri Light"/>
              </a:rPr>
              <a:t>Each layer has one job: staging contracts the sources, intermediate joins and reshapes, marts answer one question per grain. The seed filters FAOSTAT's region aggregates.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6235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E2A4A"/>
                </a:solidFill>
                <a:latin typeface="Cambria"/>
              </a:rPr>
              <a:t>WHY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7150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One mart per data grain. The world fact and the personal fact have different keys, so they get different marts that share the upstream 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C49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C4933D"/>
                </a:solidFill>
                <a:latin typeface="Cambria"/>
              </a:rPr>
              <a:t>CONSIDERED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242831"/>
            <a:ext cx="976853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en-US" sz="1100" b="0" i="0" dirty="0">
                <a:solidFill>
                  <a:srgbClr val="1A1A2E"/>
                </a:solidFill>
                <a:latin typeface="Calibri Light"/>
              </a:rPr>
              <a:t>Other structures and models, but those would all target other use cases. For scope and narrative, I have kept it to what answers my initial question.</a:t>
            </a:r>
            <a:endParaRPr sz="11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6 / 13</a:t>
            </a:r>
          </a:p>
        </p:txBody>
      </p:sp>
      <p:pic>
        <p:nvPicPr>
          <p:cNvPr id="42" name="Picture 41" descr="The diagram illustrates a complex flow of interconnected data elements and modules, including food balance sheets, kcal supply, daily activities, and matching country data, all linked through various statistical and data processing elements.&#10;&#10;AI-generated content may be incorrect.">
            <a:extLst>
              <a:ext uri="{FF2B5EF4-FFF2-40B4-BE49-F238E27FC236}">
                <a16:creationId xmlns:a16="http://schemas.microsoft.com/office/drawing/2014/main" id="{910A4282-CEE3-61EC-69BA-FA7D6DBE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6" y="1124711"/>
            <a:ext cx="11976001" cy="3762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mbria"/>
              </a:rPr>
              <a:t>Materialisation matched to layer: views for cheap reshapes, tables for the slide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2194560" cy="82296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STAGING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691640"/>
            <a:ext cx="11887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691640"/>
            <a:ext cx="1188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1E2A4A"/>
                </a:solidFill>
                <a:latin typeface="Cambria"/>
              </a:rPr>
              <a:t>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83080"/>
            <a:ext cx="768096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 Light"/>
              </a:rPr>
              <a:t>Type casts, renames, light filters. Compiling a view costs nothing; persisting one wastes storage.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194560" cy="822960"/>
          </a:xfrm>
          <a:prstGeom prst="rect">
            <a:avLst/>
          </a:prstGeom>
          <a:solidFill>
            <a:srgbClr val="3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INTERMEDIATE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651760"/>
            <a:ext cx="11887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3B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651760"/>
            <a:ext cx="1188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3B6E8F"/>
                </a:solidFill>
                <a:latin typeface="Cambria"/>
              </a:rPr>
              <a:t>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860107"/>
            <a:ext cx="768096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Joins, pivots, and the cross-join match. Cheap at this scale.</a:t>
            </a:r>
            <a:endParaRPr lang="en-US" sz="1200" b="0" i="0" dirty="0">
              <a:solidFill>
                <a:srgbClr val="1A1A2E"/>
              </a:solidFill>
              <a:latin typeface="Calibri Light"/>
            </a:endParaRPr>
          </a:p>
          <a:p>
            <a:pPr algn="l"/>
            <a:r>
              <a:rPr sz="1200" b="0" i="0" dirty="0">
                <a:solidFill>
                  <a:srgbClr val="1A1A2E"/>
                </a:solidFill>
                <a:latin typeface="Calibri Light"/>
              </a:rPr>
              <a:t>The first layer I would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 start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 fli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p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p</a:t>
            </a:r>
            <a:r>
              <a:rPr lang="en-US" sz="1200" b="0" i="0" dirty="0">
                <a:solidFill>
                  <a:srgbClr val="1A1A2E"/>
                </a:solidFill>
                <a:latin typeface="Calibri Light"/>
              </a:rPr>
              <a:t>ing heavier models</a:t>
            </a:r>
            <a:r>
              <a:rPr sz="1200" b="0" i="0" dirty="0">
                <a:solidFill>
                  <a:srgbClr val="1A1A2E"/>
                </a:solidFill>
                <a:latin typeface="Calibri Light"/>
              </a:rPr>
              <a:t> to tables once volumes grow.</a:t>
            </a:r>
            <a:endParaRPr lang="en-US" sz="1200" b="0" i="0" dirty="0">
              <a:solidFill>
                <a:srgbClr val="1A1A2E"/>
              </a:solidFill>
              <a:latin typeface="Calibri Ligh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2194560" cy="82296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MARTS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611880"/>
            <a:ext cx="11887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3611880"/>
            <a:ext cx="118872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DD624F"/>
                </a:solidFill>
                <a:latin typeface="Cambria"/>
              </a:rPr>
              <a:t>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703320"/>
            <a:ext cx="768096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 Light"/>
              </a:rPr>
              <a:t>Consumer surface. Slides and Snowsight charts query these directly, so query speed matters more than storage.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276088"/>
            <a:ext cx="41148" cy="31089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2578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E2A4A"/>
                </a:solidFill>
                <a:latin typeface="Cambria"/>
              </a:rPr>
              <a:t>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578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Pay for storage where queries are read often. Don't pay where transformations are linear and cheap.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C49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C4933D"/>
                </a:solidFill>
                <a:latin typeface="Cambria"/>
              </a:rPr>
              <a:t>CONSIDERED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822207"/>
            <a:ext cx="976853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 Light"/>
              </a:rPr>
              <a:t>All tables (simpler, heavier on storage)</a:t>
            </a:r>
            <a:r>
              <a:rPr lang="en-US" sz="1100" b="0" i="0" dirty="0">
                <a:solidFill>
                  <a:srgbClr val="1A1A2E"/>
                </a:solidFill>
                <a:latin typeface="Calibri Light"/>
              </a:rPr>
              <a:t>, </a:t>
            </a:r>
            <a:r>
              <a:rPr lang="en-US" sz="1100" dirty="0">
                <a:solidFill>
                  <a:srgbClr val="1A1A2E"/>
                </a:solidFill>
                <a:latin typeface="Calibri Light"/>
              </a:rPr>
              <a:t>both table and ephemeral for intermediate were all considered. 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The middle ground reads best at this scale</a:t>
            </a:r>
            <a:r>
              <a:rPr lang="en-US" sz="1100" b="0" i="0" dirty="0">
                <a:solidFill>
                  <a:srgbClr val="1A1A2E"/>
                </a:solidFill>
                <a:latin typeface="Calibri Light"/>
              </a:rPr>
              <a:t> in my opinion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mbria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279407"/>
            <a:ext cx="976853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 Light"/>
              </a:rPr>
              <a:t>Flip intermediate to </a:t>
            </a:r>
            <a:r>
              <a:rPr lang="en-US" sz="1100" dirty="0">
                <a:solidFill>
                  <a:srgbClr val="1A1A2E"/>
                </a:solidFill>
                <a:latin typeface="Calibri Light"/>
              </a:rPr>
              <a:t>tables if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 the cross-join intermediate grows past about 10M rows. That is the trigger.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mbria"/>
              </a:rPr>
              <a:t>Every contract is tested. Every column is described. A reviewer can audit any number on this deck.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2" y="1325880"/>
            <a:ext cx="402336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>
                <a:solidFill>
                  <a:srgbClr val="1E2A4A"/>
                </a:solidFill>
                <a:latin typeface="Cambria"/>
              </a:rPr>
              <a:t>Per element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25880"/>
            <a:ext cx="4007815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 i="0" dirty="0">
                <a:solidFill>
                  <a:srgbClr val="1E2A4A"/>
                </a:solidFill>
                <a:latin typeface="Cambria"/>
              </a:rPr>
              <a:t>System 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804672" y="1601581"/>
            <a:ext cx="246888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2000" b="1" i="0" dirty="0">
                <a:solidFill>
                  <a:srgbClr val="DD624F"/>
                </a:solidFill>
                <a:latin typeface="Cambria"/>
              </a:rPr>
              <a:t>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804672" y="3338941"/>
            <a:ext cx="246888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2000" b="1" i="0">
                <a:solidFill>
                  <a:srgbClr val="1E2A4A"/>
                </a:solidFill>
                <a:latin typeface="Cambria"/>
              </a:rPr>
              <a:t>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2" y="1691640"/>
            <a:ext cx="4023360" cy="1508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56232" y="1691640"/>
            <a:ext cx="4023360" cy="54864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39112" y="182880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D624F"/>
                </a:solidFill>
                <a:latin typeface="Cambria"/>
              </a:rPr>
              <a:t>Schema contract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2194560"/>
            <a:ext cx="365760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unique, not_null, accepted_values on every natural key and enum across staging, intermediate, marts.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691640"/>
            <a:ext cx="4023360" cy="1508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6792" y="1691640"/>
            <a:ext cx="4023360" cy="54864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828800"/>
            <a:ext cx="36576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DD624F"/>
                </a:solidFill>
                <a:latin typeface="Cambria"/>
              </a:rPr>
              <a:t>Singular test on the </a:t>
            </a:r>
            <a:r>
              <a:rPr lang="en-US" sz="1300" b="1" i="0" dirty="0">
                <a:solidFill>
                  <a:srgbClr val="DD624F"/>
                </a:solidFill>
                <a:latin typeface="Cambria"/>
              </a:rPr>
              <a:t>use case</a:t>
            </a:r>
            <a:endParaRPr sz="1300" b="1" i="0" dirty="0">
              <a:solidFill>
                <a:srgbClr val="DD624F"/>
              </a:solidFill>
              <a:latin typeface="Cambr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2" y="2194560"/>
            <a:ext cx="3657600" cy="71404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 err="1">
                <a:solidFill>
                  <a:srgbClr val="1A1A2E"/>
                </a:solidFill>
                <a:latin typeface="Calibri Light"/>
              </a:rPr>
              <a:t>personal_range_exceeds_world_range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 fails if the structural claim ever stops holding empirically</a:t>
            </a:r>
            <a:r>
              <a:rPr lang="en-US" sz="1100" dirty="0">
                <a:solidFill>
                  <a:srgbClr val="1A1A2E"/>
                </a:solidFill>
                <a:latin typeface="Calibri Light"/>
              </a:rPr>
              <a:t>.</a:t>
            </a:r>
          </a:p>
          <a:p>
            <a:pPr algn="l"/>
            <a:endParaRPr lang="en-US" sz="1100" dirty="0">
              <a:solidFill>
                <a:srgbClr val="1A1A2E"/>
              </a:solidFill>
              <a:latin typeface="Calibri Light"/>
            </a:endParaRPr>
          </a:p>
          <a:p>
            <a:pPr algn="l"/>
            <a:r>
              <a:rPr lang="en-US" sz="1100" b="0" i="0" dirty="0">
                <a:solidFill>
                  <a:srgbClr val="1A1A2E"/>
                </a:solidFill>
                <a:latin typeface="Calibri Light"/>
              </a:rPr>
              <a:t>That is, I become sustainable for all days in the facts</a:t>
            </a:r>
            <a:r>
              <a:rPr sz="1100" b="0" i="0" dirty="0">
                <a:solidFill>
                  <a:srgbClr val="1A1A2E"/>
                </a:solidFill>
                <a:latin typeface="Calibri Light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2" y="3429000"/>
            <a:ext cx="4023360" cy="1508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56232" y="3429000"/>
            <a:ext cx="4023360" cy="54864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39112" y="35661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mbria"/>
              </a:rPr>
              <a:t>Column descriptions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3931920"/>
            <a:ext cx="365760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Every column on every mart has a description in the YAML. Reviewers can drill into a number and find what produced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792" y="3429000"/>
            <a:ext cx="4023360" cy="1508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36792" y="3429000"/>
            <a:ext cx="4023360" cy="54864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35661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mbria"/>
              </a:rPr>
              <a:t>Reusable docs blocks + lineage 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931920"/>
            <a:ext cx="365760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{% docs %} blocks for repeated terms (closest_country_match, sustainability_class). dbt docs renders the full DAG.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663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5276088"/>
            <a:ext cx="41148" cy="31089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2578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E2A4A"/>
                </a:solidFill>
                <a:latin typeface="Cambria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2578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A reviewer should be able to read a number on a slide and trace it to a query and a test that guards 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DD624F"/>
                </a:solidFill>
                <a:latin typeface="Cambria"/>
              </a:rPr>
              <a:t>HARD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7150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dbt Fusion preview rejected the documented `freshness` config-block syntax. Source freshness is stripped for now.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mbria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1722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`dbt docs generate` + push the static site to GitHub Pages for public review; wire source freshness once Fusion stabilises.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11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 dirty="0">
                <a:solidFill>
                  <a:srgbClr val="1E2A4A"/>
                </a:solidFill>
                <a:latin typeface="Cambria"/>
              </a:rPr>
              <a:t>Global supply has </a:t>
            </a:r>
            <a:r>
              <a:rPr lang="en-US" sz="2200" b="1" i="0" dirty="0">
                <a:solidFill>
                  <a:srgbClr val="1E2A4A"/>
                </a:solidFill>
                <a:latin typeface="Cambria"/>
              </a:rPr>
              <a:t>a rising average, while top rises and bottom sinks</a:t>
            </a:r>
            <a:endParaRPr sz="2200" b="1" i="0" dirty="0">
              <a:solidFill>
                <a:srgbClr val="1E2A4A"/>
              </a:solidFill>
              <a:latin typeface="Cambria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10911535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  <a:latin typeface="Calibri Light"/>
              </a:rPr>
              <a:t>The bottom rises. The top barely moves. The world's lowest-supply countries are catching up, but the highest-supply ones do not pull further ahead.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8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71404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 dirty="0">
                <a:solidFill>
                  <a:srgbClr val="1E2A4A"/>
                </a:solidFill>
                <a:latin typeface="Cambria"/>
              </a:rPr>
              <a:t>My median day matches a saturated rich country.</a:t>
            </a:r>
            <a:endParaRPr lang="en-US" sz="2200" b="1" i="0" dirty="0">
              <a:solidFill>
                <a:srgbClr val="1E2A4A"/>
              </a:solidFill>
              <a:latin typeface="Cambria"/>
            </a:endParaRPr>
          </a:p>
          <a:p>
            <a:pPr algn="l"/>
            <a:r>
              <a:rPr sz="2200" b="1" i="0" dirty="0">
                <a:solidFill>
                  <a:srgbClr val="1E2A4A"/>
                </a:solidFill>
                <a:latin typeface="Cambria"/>
              </a:rPr>
              <a:t>My 114 peak days </a:t>
            </a:r>
            <a:r>
              <a:rPr sz="2200" b="1" i="0" dirty="0">
                <a:solidFill>
                  <a:srgbClr val="DD624F"/>
                </a:solidFill>
                <a:latin typeface="Cambria"/>
              </a:rPr>
              <a:t>exceed every country</a:t>
            </a:r>
            <a:r>
              <a:rPr sz="2200" b="1" i="0" dirty="0">
                <a:solidFill>
                  <a:srgbClr val="1E2A4A"/>
                </a:solidFill>
                <a:latin typeface="Cambria"/>
              </a:rPr>
              <a:t>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9164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 Light"/>
              </a:rPr>
              <a:t>kcal per day, 619 worn days. Mode at the 3,000 to 3,500 bin (219 days).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828800"/>
            <a:ext cx="5486400" cy="2697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1828800"/>
            <a:ext cx="5486400" cy="54864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DD624F"/>
                </a:solidFill>
                <a:latin typeface="Cambria"/>
              </a:rPr>
              <a:t>Top-5 country-year 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212080" cy="9602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onsolas"/>
              </a:rPr>
              <a:t>  1.  Ireland 2019         114 days  </a:t>
            </a:r>
            <a:r>
              <a:rPr lang="en-US" sz="1200" dirty="0">
                <a:solidFill>
                  <a:srgbClr val="1A1A2E"/>
                </a:solidFill>
                <a:latin typeface="Consolas"/>
              </a:rPr>
              <a:t>&lt;- data </a:t>
            </a:r>
            <a:r>
              <a:rPr sz="1200" b="0" i="0" dirty="0">
                <a:solidFill>
                  <a:srgbClr val="1A1A2E"/>
                </a:solidFill>
                <a:latin typeface="Consolas"/>
              </a:rPr>
              <a:t>ceiling
  2.  Belgium 2021          5 days
  3.  New Caledonia 2021    4 days
  4.  Slovenia 2017         4 days
  5.  Portugal 2023         3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20048"/>
            <a:ext cx="5212080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000" b="1" i="1" dirty="0">
                <a:solidFill>
                  <a:srgbClr val="DD624F"/>
                </a:solidFill>
                <a:latin typeface="Calibri Light"/>
              </a:rPr>
              <a:t>Note</a:t>
            </a:r>
            <a:br>
              <a:rPr lang="en-US" sz="1000" b="1" i="1" dirty="0">
                <a:solidFill>
                  <a:srgbClr val="DD624F"/>
                </a:solidFill>
                <a:latin typeface="Calibri Light"/>
              </a:rPr>
            </a:br>
            <a:r>
              <a:rPr sz="1000" b="0" i="1" dirty="0">
                <a:solidFill>
                  <a:srgbClr val="DD624F"/>
                </a:solidFill>
                <a:latin typeface="Calibri Light"/>
              </a:rPr>
              <a:t>Ireland 2019 is the highest national supply in FAOSTAT. The 114 days are not really a match: they are days I exceeded every country's per-capita supply, so the closest-by-kcal lookup returns the maximum.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235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E2A4A"/>
                </a:solidFill>
                <a:latin typeface="Cambria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7150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Closest-match cross join handles the fact that FAOSTAT ends in 2023 and my Fitbit data starts in 2024. A temporal join would orphan every personal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DD624F"/>
                </a:solidFill>
                <a:latin typeface="Cambria"/>
              </a:rPr>
              <a:t>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61722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I assumed median day would match somewhere like Vietnam 2018. Data said France, then Ireland after I fixed an aggregate-exclusion bug.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9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77295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1E2A4A"/>
                </a:solidFill>
                <a:latin typeface="Cambria"/>
              </a:rPr>
              <a:t>On 23% of my worn days, the model labels me globally_unsustainable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5212080" cy="310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6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54864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DD624F"/>
                </a:solidFill>
                <a:latin typeface="Cambria"/>
              </a:rPr>
              <a:t>How my 619 worn days are 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 Light"/>
              </a:rPr>
              <a:t>globally_unsustainable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87752"/>
            <a:ext cx="1028700" cy="292608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60220" y="256032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22.5%   (139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 Light"/>
              </a:rPr>
              <a:t>above_world_avg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64991"/>
            <a:ext cx="2199132" cy="292608"/>
          </a:xfrm>
          <a:prstGeom prst="rect">
            <a:avLst/>
          </a:prstGeom>
          <a:solidFill>
            <a:srgbClr val="3B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0651" y="333756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48.1%   (298 days)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 Light"/>
              </a:rPr>
              <a:t>within_world_avg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344168" cy="292608"/>
          </a:xfrm>
          <a:prstGeom prst="rect">
            <a:avLst/>
          </a:prstGeom>
          <a:solidFill>
            <a:srgbClr val="3D4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75688" y="4114800"/>
            <a:ext cx="15544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29.4%   (182 days)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1126998"/>
            <a:ext cx="59436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0" b="1" i="0" dirty="0">
                <a:solidFill>
                  <a:srgbClr val="DD624F"/>
                </a:solidFill>
                <a:latin typeface="Cambria"/>
              </a:rPr>
              <a:t>23%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1A1A2E"/>
                </a:solidFill>
                <a:latin typeface="Cambria"/>
              </a:rPr>
              <a:t>of my worn days exceed 1.25 times the world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041648"/>
            <a:ext cx="5943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 dirty="0">
                <a:solidFill>
                  <a:srgbClr val="6B7280"/>
                </a:solidFill>
                <a:latin typeface="Calibri Light"/>
              </a:rPr>
              <a:t>That threshold works out to 3,805 kcal/day.</a:t>
            </a: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 1.25× is </a:t>
            </a:r>
            <a:r>
              <a:rPr lang="en-US" sz="1200" i="1" dirty="0">
                <a:solidFill>
                  <a:srgbClr val="6B7280"/>
                </a:solidFill>
                <a:latin typeface="Calibri Light"/>
              </a:rPr>
              <a:t>a transparent choice of metric by me</a:t>
            </a:r>
            <a:r>
              <a:rPr sz="1200" b="0" i="1" dirty="0">
                <a:solidFill>
                  <a:srgbClr val="6B7280"/>
                </a:solidFill>
                <a:latin typeface="Calibri Light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4497776"/>
            <a:ext cx="59436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 dirty="0">
                <a:solidFill>
                  <a:srgbClr val="DD624F"/>
                </a:solidFill>
                <a:latin typeface="Cambria"/>
              </a:rPr>
              <a:t>Scale that demand to humanity, and</a:t>
            </a:r>
            <a:r>
              <a:rPr lang="en-US" sz="1400" b="0" i="1" dirty="0">
                <a:solidFill>
                  <a:srgbClr val="DD624F"/>
                </a:solidFill>
                <a:latin typeface="Cambria"/>
              </a:rPr>
              <a:t> our food supply runs out.</a:t>
            </a:r>
            <a:endParaRPr sz="1400" b="0" i="1" dirty="0">
              <a:solidFill>
                <a:srgbClr val="DD624F"/>
              </a:solidFill>
              <a:latin typeface="Cambri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5623560"/>
            <a:ext cx="11277295" cy="13716"/>
          </a:xfrm>
          <a:prstGeom prst="rect">
            <a:avLst/>
          </a:prstGeom>
          <a:solidFill>
            <a:srgbClr val="DE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733288"/>
            <a:ext cx="41148" cy="310896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7150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1E2A4A"/>
                </a:solidFill>
                <a:latin typeface="Cambria"/>
              </a:rPr>
              <a:t>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715000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The kicker is structural: the model classifies its developer using only its own rule and my own data.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190488"/>
            <a:ext cx="41148" cy="310896"/>
          </a:xfrm>
          <a:prstGeom prst="rect">
            <a:avLst/>
          </a:prstGeom>
          <a:solidFill>
            <a:srgbClr val="C49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6172200"/>
            <a:ext cx="13258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C4933D"/>
                </a:solidFill>
                <a:latin typeface="Cambria"/>
              </a:rPr>
              <a:t>CONSIDERED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6117336"/>
            <a:ext cx="9768535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 Light"/>
              </a:rPr>
              <a:t>A 1.5× threshold (closer to 6% headline). Same shape, smaller number, weaker punchline.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583680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 Light"/>
              </a:rPr>
              <a:t>10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0099"/>
            <a:ext cx="11277295" cy="43704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mbria"/>
              </a:rPr>
              <a:t>What I'd do with more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91440" cy="64008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Three functional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/>
              </a:rPr>
              <a:t>Split PC_DBT_ROLE into LOADER, TRANSFORMER, ANALYST. Grants and permissions reflect the work each role actually does.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91440" cy="64008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CI database + PR build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10515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 Light"/>
              </a:rPr>
              <a:t>Run </a:t>
            </a:r>
            <a:r>
              <a:rPr sz="1200" b="0" i="0" dirty="0" err="1">
                <a:solidFill>
                  <a:srgbClr val="FFFFFF"/>
                </a:solidFill>
                <a:latin typeface="Calibri Light"/>
              </a:rPr>
              <a:t>dbt</a:t>
            </a:r>
            <a:r>
              <a:rPr sz="1200" b="0" i="0" dirty="0">
                <a:solidFill>
                  <a:srgbClr val="FFFFFF"/>
                </a:solidFill>
                <a:latin typeface="Calibri Light"/>
              </a:rPr>
              <a:t> build against a CI database on every pull request. </a:t>
            </a:r>
            <a:r>
              <a:rPr lang="en-US" sz="1200" dirty="0">
                <a:solidFill>
                  <a:srgbClr val="FFFFFF"/>
                </a:solidFill>
                <a:latin typeface="Calibri Light"/>
              </a:rPr>
              <a:t>Could be a nice workflow to c</a:t>
            </a:r>
            <a:r>
              <a:rPr sz="1200" b="0" i="0" dirty="0">
                <a:solidFill>
                  <a:srgbClr val="FFFFFF"/>
                </a:solidFill>
                <a:latin typeface="Calibri Light"/>
              </a:rPr>
              <a:t>atch issues before merge.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91440" cy="64008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7059168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mbria"/>
              </a:rPr>
              <a:t>World Bank back </a:t>
            </a:r>
            <a:r>
              <a:rPr lang="en-US" sz="1400" b="1" i="0" dirty="0">
                <a:solidFill>
                  <a:srgbClr val="FFFFFF"/>
                </a:solidFill>
                <a:latin typeface="Cambria"/>
              </a:rPr>
              <a:t>(additional data) or more peoples’ Google Health data!</a:t>
            </a:r>
            <a:endParaRPr sz="1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10515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 Light"/>
              </a:rPr>
              <a:t>Add income brackets and regional context to the country dimension.</a:t>
            </a:r>
            <a:r>
              <a:rPr lang="en-US" sz="1200" b="0" i="0" dirty="0">
                <a:solidFill>
                  <a:srgbClr val="FFFFFF"/>
                </a:solidFill>
                <a:latin typeface="Calibri Light"/>
              </a:rPr>
              <a:t> More people to create nuance and comparisons</a:t>
            </a:r>
            <a:r>
              <a:rPr sz="1200" b="0" i="0" dirty="0">
                <a:solidFill>
                  <a:srgbClr val="FFFFFF"/>
                </a:solidFill>
                <a:latin typeface="Calibri Light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39"/>
            <a:ext cx="91440" cy="64008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520439"/>
            <a:ext cx="5276088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Cambria"/>
              </a:rPr>
              <a:t>Have a system around the </a:t>
            </a:r>
            <a:r>
              <a:rPr lang="en-US" sz="1400" b="1" dirty="0">
                <a:solidFill>
                  <a:srgbClr val="FFFFFF"/>
                </a:solidFill>
                <a:latin typeface="Cambria"/>
              </a:rPr>
              <a:t>Google Health API scripts</a:t>
            </a:r>
            <a:endParaRPr sz="1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3867911"/>
            <a:ext cx="10515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FFFFFF"/>
                </a:solidFill>
                <a:latin typeface="Calibri Light"/>
              </a:rPr>
              <a:t>Perhaps something like </a:t>
            </a:r>
            <a:r>
              <a:rPr lang="en-US" sz="1200" b="0" i="0" dirty="0" err="1">
                <a:solidFill>
                  <a:srgbClr val="FFFFFF"/>
                </a:solidFill>
                <a:latin typeface="Calibri Light"/>
              </a:rPr>
              <a:t>dlthub</a:t>
            </a:r>
            <a:r>
              <a:rPr lang="en-US" sz="1200" b="0" i="0" dirty="0">
                <a:solidFill>
                  <a:srgbClr val="FFFFFF"/>
                </a:solidFill>
                <a:latin typeface="Calibri Light"/>
              </a:rPr>
              <a:t> or </a:t>
            </a:r>
            <a:r>
              <a:rPr lang="en-US" sz="1200" b="0" i="0" dirty="0" err="1">
                <a:solidFill>
                  <a:srgbClr val="FFFFFF"/>
                </a:solidFill>
                <a:latin typeface="Calibri Light"/>
              </a:rPr>
              <a:t>Snowpipe</a:t>
            </a:r>
            <a:r>
              <a:rPr lang="en-US" sz="1200" b="0" i="0" dirty="0">
                <a:solidFill>
                  <a:srgbClr val="FFFFFF"/>
                </a:solidFill>
                <a:latin typeface="Calibri Light"/>
              </a:rPr>
              <a:t> API ingestion could be the way to go?</a:t>
            </a:r>
            <a:endParaRPr sz="1200" b="0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358384"/>
            <a:ext cx="11277295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i="1" dirty="0">
                <a:solidFill>
                  <a:srgbClr val="FFFFFF"/>
                </a:solidFill>
                <a:latin typeface="Cambria"/>
              </a:rPr>
              <a:t>On an ending note; perhaps skipping the next Strava activity is the right thing to do?</a:t>
            </a:r>
            <a:endParaRPr sz="1800" b="0" i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769864"/>
            <a:ext cx="11277295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600" b="0" i="1" dirty="0">
                <a:solidFill>
                  <a:srgbClr val="FFFFFF"/>
                </a:solidFill>
                <a:latin typeface="Calibri Light"/>
              </a:rPr>
              <a:t>Because 8.4 billion of me on a high-activity day would </a:t>
            </a:r>
            <a:r>
              <a:rPr lang="en-US" sz="1600" i="1" dirty="0">
                <a:solidFill>
                  <a:srgbClr val="FFFFFF"/>
                </a:solidFill>
                <a:latin typeface="Calibri Light"/>
              </a:rPr>
              <a:t>for sure </a:t>
            </a:r>
            <a:r>
              <a:rPr lang="en-US" sz="1600" b="0" i="1" dirty="0">
                <a:solidFill>
                  <a:srgbClr val="FFFFFF"/>
                </a:solidFill>
                <a:latin typeface="Calibri Light"/>
              </a:rPr>
              <a:t>leave very little food on our plates</a:t>
            </a:r>
            <a:r>
              <a:rPr sz="1600" b="0" i="1" dirty="0">
                <a:solidFill>
                  <a:srgbClr val="FFFFFF"/>
                </a:solidFill>
                <a:latin typeface="Calibri Light"/>
              </a:rPr>
              <a:t>.</a:t>
            </a:r>
            <a:endParaRPr lang="en-US" sz="1600" b="0" i="1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55643" y="6572256"/>
            <a:ext cx="6680407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1200" b="0" i="0" dirty="0">
                <a:solidFill>
                  <a:srgbClr val="FFFFFF"/>
                </a:solidFill>
                <a:latin typeface="Calibri Light"/>
              </a:rPr>
              <a:t>Git reference: </a:t>
            </a:r>
            <a:r>
              <a:rPr sz="1200" b="0" i="0" dirty="0">
                <a:solidFill>
                  <a:srgbClr val="FFFFFF"/>
                </a:solidFill>
                <a:latin typeface="Calibri Light"/>
                <a:hlinkClick r:id="rId2"/>
              </a:rPr>
              <a:t>github.com/kaspergroenbek98/</a:t>
            </a:r>
            <a:r>
              <a:rPr sz="1200" b="0" i="0" dirty="0" err="1">
                <a:solidFill>
                  <a:srgbClr val="FFFFFF"/>
                </a:solidFill>
                <a:latin typeface="Calibri Light"/>
                <a:hlinkClick r:id="rId2"/>
              </a:rPr>
              <a:t>exercise_and_sustainability_</a:t>
            </a:r>
            <a:r>
              <a:rPr lang="en-US" sz="1200" b="0" i="0" dirty="0" err="1">
                <a:solidFill>
                  <a:srgbClr val="FFFFFF"/>
                </a:solidFill>
                <a:latin typeface="Calibri Light"/>
                <a:hlinkClick r:id="rId2"/>
              </a:rPr>
              <a:t>case</a:t>
            </a:r>
            <a:endParaRPr sz="1200" b="0" i="0" dirty="0">
              <a:solidFill>
                <a:srgbClr val="FFFFFF"/>
              </a:solidFill>
              <a:latin typeface="Calibri Ligh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2163452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mbria"/>
              </a:rPr>
              <a:t>Thanks</a:t>
            </a:r>
            <a:r>
              <a:rPr lang="en-US" sz="1400" b="1" dirty="0">
                <a:solidFill>
                  <a:srgbClr val="FFFFFF"/>
                </a:solidFill>
                <a:latin typeface="Cambria"/>
              </a:rPr>
              <a:t>, happy Friday!</a:t>
            </a:r>
            <a:endParaRPr sz="1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B4D398-E257-0B40-B005-A8E8D635D500}"/>
              </a:ext>
            </a:extLst>
          </p:cNvPr>
          <p:cNvSpPr/>
          <p:nvPr/>
        </p:nvSpPr>
        <p:spPr>
          <a:xfrm>
            <a:off x="454152" y="4267199"/>
            <a:ext cx="91440" cy="640080"/>
          </a:xfrm>
          <a:prstGeom prst="rect">
            <a:avLst/>
          </a:prstGeom>
          <a:solidFill>
            <a:srgbClr val="DD6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CDD014-6443-6CCE-7A93-4B6DDD645AEF}"/>
              </a:ext>
            </a:extLst>
          </p:cNvPr>
          <p:cNvSpPr txBox="1"/>
          <p:nvPr/>
        </p:nvSpPr>
        <p:spPr>
          <a:xfrm>
            <a:off x="682752" y="4267199"/>
            <a:ext cx="5276088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mbria"/>
              </a:rPr>
              <a:t>Overall polish</a:t>
            </a:r>
            <a:endParaRPr sz="1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D3292D-1353-3A36-BBB2-B307E2548A03}"/>
              </a:ext>
            </a:extLst>
          </p:cNvPr>
          <p:cNvSpPr txBox="1"/>
          <p:nvPr/>
        </p:nvSpPr>
        <p:spPr>
          <a:xfrm>
            <a:off x="682752" y="4614671"/>
            <a:ext cx="10515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 Light"/>
              </a:rPr>
              <a:t>With 8 hours, I can guarantee that I’ve missed something!</a:t>
            </a:r>
            <a:endParaRPr sz="1200" b="0" i="0" dirty="0">
              <a:solidFill>
                <a:srgbClr val="FFFFFF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2130</Words>
  <Application>Microsoft Office PowerPoint</Application>
  <PresentationFormat>Widescreen</PresentationFormat>
  <Paragraphs>197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Kasper Grønbek</cp:lastModifiedBy>
  <cp:revision>21</cp:revision>
  <dcterms:created xsi:type="dcterms:W3CDTF">2013-01-27T09:14:16Z</dcterms:created>
  <dcterms:modified xsi:type="dcterms:W3CDTF">2026-05-21T15:21:42Z</dcterms:modified>
  <cp:category/>
</cp:coreProperties>
</file>